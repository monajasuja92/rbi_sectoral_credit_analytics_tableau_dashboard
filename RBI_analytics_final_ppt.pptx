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3600" b="1">
                <a:solidFill>
                  <a:srgbClr val="102C57"/>
                </a:solidFill>
                <a:latin typeface="Arial"/>
              </a:defRPr>
            </a:pPr>
            <a:r>
              <a:t>RBI Sectoral Credit &amp; Portfolio Risk Analytics</a:t>
            </a:r>
          </a:p>
          <a:p>
            <a:pPr algn="l">
              <a:spcAft>
                <a:spcPts val="4000"/>
              </a:spcAft>
              <a:defRPr sz="1800" b="0">
                <a:solidFill>
                  <a:srgbClr val="64748B"/>
                </a:solidFill>
                <a:latin typeface="Arial"/>
              </a:defRPr>
            </a:pPr>
            <a:r>
              <a:t>An End-to-End Data Engineering Case Study (2018 - 2026)</a:t>
            </a:r>
          </a:p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Prepared by: Mona Jasuja</a:t>
            </a:r>
            <a:br/>
            <a:r>
              <a:t>Target Domain: Commercial Credit Risk &amp; Strategic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02C57"/>
                </a:solidFill>
                <a:latin typeface="Arial"/>
              </a:defRPr>
            </a:pPr>
            <a:r>
              <a:t>Core Portfolio Insights &amp; Core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35A2EB"/>
                </a:solidFill>
                <a:latin typeface="Arial"/>
              </a:defRPr>
            </a:pPr>
            <a:r>
              <a:t>Key Portfolio Observations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The 2026 Credit Squeeze: Data reveals a clear deceleration in total volume growth entering the final 2026 economic reporting frame.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Lending Criteria Tightening: The sudden velocity contraction suggests a macro-level restriction of bank lending criteria across key heavy industrial segments.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Portfolio Risk Concentration: The top 10 market drivers control a massive percentage of overall volume, increasing exposure to systemic shocks.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35A2EB"/>
                </a:solidFill>
                <a:latin typeface="Arial"/>
              </a:defRPr>
            </a:pPr>
            <a:r>
              <a:t>Strategic Risk Implications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Priority Lending Resilience: While commercial sectors flatlined, Priority Sector Lending (PSL) including housing remained highly resilient.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Regulatory Segment Shifting: Financial institutions shifted asset concentrations heavily toward mandated segments to preserve credit quality.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Strategic Risk Tracking: Implementing dynamic cohort filters allows risk managers to actively flag volatile industry transitions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8130C-E730-E9E2-F697-F71A9E976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3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6E2CB2-4EE1-AE3B-299D-C5ECC1490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607" y="0"/>
            <a:ext cx="4636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5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E6FD0F-6EE4-8569-EFC5-7FDBC942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Queries in MySQL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2E4BD44-2565-A13A-A66C-34A078E300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USE </a:t>
            </a:r>
            <a:r>
              <a:rPr lang="en-US" dirty="0" err="1"/>
              <a:t>rbi_analytics</a:t>
            </a:r>
            <a:r>
              <a:rPr lang="en-US" dirty="0"/>
              <a:t>;</a:t>
            </a:r>
          </a:p>
          <a:p>
            <a:r>
              <a:rPr lang="en-US" dirty="0"/>
              <a:t>#Query 1: Macro Credit Volume Trends &amp; YoY% Growth Analysis</a:t>
            </a:r>
          </a:p>
          <a:p>
            <a:r>
              <a:rPr lang="en-US" dirty="0"/>
              <a:t>select * from </a:t>
            </a:r>
            <a:r>
              <a:rPr lang="en-US" dirty="0" err="1"/>
              <a:t>dim_time</a:t>
            </a:r>
            <a:r>
              <a:rPr lang="en-US" dirty="0"/>
              <a:t>;</a:t>
            </a:r>
          </a:p>
          <a:p>
            <a:r>
              <a:rPr lang="en-US" dirty="0"/>
              <a:t>select * from </a:t>
            </a:r>
            <a:r>
              <a:rPr lang="en-US" dirty="0" err="1"/>
              <a:t>fact_financial_analytics</a:t>
            </a:r>
            <a:r>
              <a:rPr lang="en-US" dirty="0"/>
              <a:t>;</a:t>
            </a:r>
          </a:p>
          <a:p>
            <a:r>
              <a:rPr lang="en-US" dirty="0"/>
              <a:t>select </a:t>
            </a:r>
          </a:p>
          <a:p>
            <a:r>
              <a:rPr lang="en-US" dirty="0"/>
              <a:t>*,CONCAT(ROUND((</a:t>
            </a:r>
            <a:r>
              <a:rPr lang="en-US" dirty="0" err="1"/>
              <a:t>current_yr_credit-previous_yr_credit</a:t>
            </a:r>
            <a:r>
              <a:rPr lang="en-US" dirty="0"/>
              <a:t>)/</a:t>
            </a:r>
            <a:r>
              <a:rPr lang="en-US" dirty="0" err="1"/>
              <a:t>previous_yr_credit</a:t>
            </a:r>
            <a:r>
              <a:rPr lang="en-US" dirty="0"/>
              <a:t>*100,1),"%") as </a:t>
            </a:r>
            <a:r>
              <a:rPr lang="en-US" dirty="0" err="1"/>
              <a:t>yoy</a:t>
            </a:r>
            <a:endParaRPr lang="en-US" dirty="0"/>
          </a:p>
          <a:p>
            <a:r>
              <a:rPr lang="en-US" dirty="0"/>
              <a:t>from(</a:t>
            </a:r>
          </a:p>
          <a:p>
            <a:r>
              <a:rPr lang="en-US" dirty="0"/>
              <a:t>with T1 as(</a:t>
            </a:r>
          </a:p>
          <a:p>
            <a:r>
              <a:rPr lang="en-US" dirty="0"/>
              <a:t>select </a:t>
            </a:r>
          </a:p>
          <a:p>
            <a:r>
              <a:rPr lang="en-US" dirty="0" err="1"/>
              <a:t>t.start_year</a:t>
            </a:r>
            <a:r>
              <a:rPr lang="en-US" dirty="0"/>
              <a:t> as </a:t>
            </a:r>
            <a:r>
              <a:rPr lang="en-US" dirty="0" err="1"/>
              <a:t>yr,sum</a:t>
            </a:r>
            <a:r>
              <a:rPr lang="en-US" dirty="0"/>
              <a:t>(</a:t>
            </a:r>
            <a:r>
              <a:rPr lang="en-US" dirty="0" err="1"/>
              <a:t>f.amount_in_crores</a:t>
            </a:r>
            <a:r>
              <a:rPr lang="en-US" dirty="0"/>
              <a:t>)as </a:t>
            </a:r>
            <a:r>
              <a:rPr lang="en-US" dirty="0" err="1"/>
              <a:t>current_yr_credit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dim_time</a:t>
            </a:r>
            <a:r>
              <a:rPr lang="en-US" dirty="0"/>
              <a:t> as t </a:t>
            </a:r>
          </a:p>
          <a:p>
            <a:r>
              <a:rPr lang="en-US" dirty="0"/>
              <a:t>join </a:t>
            </a:r>
            <a:r>
              <a:rPr lang="en-US" dirty="0" err="1"/>
              <a:t>fact_financial_analytics</a:t>
            </a:r>
            <a:r>
              <a:rPr lang="en-US" dirty="0"/>
              <a:t> as f</a:t>
            </a:r>
          </a:p>
          <a:p>
            <a:r>
              <a:rPr lang="en-US" dirty="0"/>
              <a:t>on </a:t>
            </a:r>
            <a:r>
              <a:rPr lang="en-US" dirty="0" err="1"/>
              <a:t>t.time_id</a:t>
            </a:r>
            <a:r>
              <a:rPr lang="en-US" dirty="0"/>
              <a:t>=</a:t>
            </a:r>
            <a:r>
              <a:rPr lang="en-US" dirty="0" err="1"/>
              <a:t>f.time_id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amount_in_crores</a:t>
            </a:r>
            <a:r>
              <a:rPr lang="en-US" dirty="0"/>
              <a:t> is not NULL</a:t>
            </a:r>
          </a:p>
          <a:p>
            <a:r>
              <a:rPr lang="en-US" dirty="0"/>
              <a:t>group by 1)</a:t>
            </a:r>
          </a:p>
          <a:p>
            <a:r>
              <a:rPr lang="en-US" dirty="0"/>
              <a:t>select</a:t>
            </a:r>
          </a:p>
          <a:p>
            <a:r>
              <a:rPr lang="en-US" dirty="0"/>
              <a:t> </a:t>
            </a:r>
            <a:r>
              <a:rPr lang="en-US" dirty="0" err="1"/>
              <a:t>yr,current_yr_credit,lag</a:t>
            </a:r>
            <a:r>
              <a:rPr lang="en-US" dirty="0"/>
              <a:t>(</a:t>
            </a:r>
            <a:r>
              <a:rPr lang="en-US" dirty="0" err="1"/>
              <a:t>current_yr_credit</a:t>
            </a:r>
            <a:r>
              <a:rPr lang="en-US" dirty="0"/>
              <a:t>)over(order by yr </a:t>
            </a:r>
            <a:r>
              <a:rPr lang="en-US" dirty="0" err="1"/>
              <a:t>asc</a:t>
            </a:r>
            <a:r>
              <a:rPr lang="en-US" dirty="0"/>
              <a:t>)as </a:t>
            </a:r>
            <a:r>
              <a:rPr lang="en-US" dirty="0" err="1"/>
              <a:t>previous_yr_credit</a:t>
            </a:r>
            <a:endParaRPr lang="en-US" dirty="0"/>
          </a:p>
          <a:p>
            <a:r>
              <a:rPr lang="en-US" dirty="0"/>
              <a:t> from T1)T2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80240B-1279-4BE2-8BD9-82B1219BEE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 # Query 2: Top 10 Sector Credit Breakdown </a:t>
            </a:r>
          </a:p>
          <a:p>
            <a:r>
              <a:rPr lang="en-US" dirty="0"/>
              <a:t> select * from </a:t>
            </a:r>
            <a:r>
              <a:rPr lang="en-US" dirty="0" err="1"/>
              <a:t>dim_metric_sector</a:t>
            </a:r>
            <a:r>
              <a:rPr lang="en-US" dirty="0"/>
              <a:t>;</a:t>
            </a:r>
          </a:p>
          <a:p>
            <a:r>
              <a:rPr lang="en-US" dirty="0"/>
              <a:t> select * from </a:t>
            </a:r>
            <a:r>
              <a:rPr lang="en-US" dirty="0" err="1"/>
              <a:t>fact_financial_analytics</a:t>
            </a:r>
            <a:r>
              <a:rPr lang="en-US" dirty="0"/>
              <a:t>;</a:t>
            </a:r>
          </a:p>
          <a:p>
            <a:r>
              <a:rPr lang="en-US" dirty="0"/>
              <a:t>with T1 as(</a:t>
            </a:r>
          </a:p>
          <a:p>
            <a:r>
              <a:rPr lang="en-US" dirty="0"/>
              <a:t> select </a:t>
            </a:r>
          </a:p>
          <a:p>
            <a:r>
              <a:rPr lang="en-US" dirty="0"/>
              <a:t> </a:t>
            </a:r>
            <a:r>
              <a:rPr lang="en-US" dirty="0" err="1"/>
              <a:t>ms.item_name</a:t>
            </a:r>
            <a:r>
              <a:rPr lang="en-US" dirty="0"/>
              <a:t> as </a:t>
            </a:r>
            <a:r>
              <a:rPr lang="en-US" dirty="0" err="1"/>
              <a:t>sector,sum</a:t>
            </a:r>
            <a:r>
              <a:rPr lang="en-US" dirty="0"/>
              <a:t>(</a:t>
            </a:r>
            <a:r>
              <a:rPr lang="en-US" dirty="0" err="1"/>
              <a:t>f.amount_in_crores</a:t>
            </a:r>
            <a:r>
              <a:rPr lang="en-US" dirty="0"/>
              <a:t>)as </a:t>
            </a:r>
            <a:r>
              <a:rPr lang="en-US" dirty="0" err="1"/>
              <a:t>credit_amount</a:t>
            </a:r>
            <a:endParaRPr lang="en-US" dirty="0"/>
          </a:p>
          <a:p>
            <a:r>
              <a:rPr lang="en-US" dirty="0"/>
              <a:t> from </a:t>
            </a:r>
            <a:r>
              <a:rPr lang="en-US" dirty="0" err="1"/>
              <a:t>dim_metric_sector</a:t>
            </a:r>
            <a:r>
              <a:rPr lang="en-US" dirty="0"/>
              <a:t> as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 join </a:t>
            </a:r>
          </a:p>
          <a:p>
            <a:r>
              <a:rPr lang="en-US" dirty="0"/>
              <a:t> </a:t>
            </a:r>
            <a:r>
              <a:rPr lang="en-US" dirty="0" err="1"/>
              <a:t>fact_financial_analytics</a:t>
            </a:r>
            <a:r>
              <a:rPr lang="en-US" dirty="0"/>
              <a:t> as f</a:t>
            </a:r>
          </a:p>
          <a:p>
            <a:r>
              <a:rPr lang="en-US" dirty="0"/>
              <a:t> on </a:t>
            </a:r>
            <a:r>
              <a:rPr lang="en-US" dirty="0" err="1"/>
              <a:t>ms.metric_sector_id</a:t>
            </a:r>
            <a:r>
              <a:rPr lang="en-US" dirty="0"/>
              <a:t>=</a:t>
            </a:r>
            <a:r>
              <a:rPr lang="en-US" dirty="0" err="1"/>
              <a:t>f.metric_sector_id</a:t>
            </a:r>
            <a:endParaRPr lang="en-US" dirty="0"/>
          </a:p>
          <a:p>
            <a:r>
              <a:rPr lang="en-US" dirty="0"/>
              <a:t> where </a:t>
            </a:r>
            <a:r>
              <a:rPr lang="en-US" dirty="0" err="1"/>
              <a:t>f.amount_in_crores</a:t>
            </a:r>
            <a:r>
              <a:rPr lang="en-US" dirty="0"/>
              <a:t> is not NULL</a:t>
            </a:r>
          </a:p>
          <a:p>
            <a:r>
              <a:rPr lang="en-US" dirty="0"/>
              <a:t> group by 1 </a:t>
            </a:r>
          </a:p>
          <a:p>
            <a:r>
              <a:rPr lang="en-US" dirty="0"/>
              <a:t> order by 2 desc)</a:t>
            </a:r>
          </a:p>
          <a:p>
            <a:r>
              <a:rPr lang="en-US" dirty="0"/>
              <a:t> select sector,</a:t>
            </a:r>
          </a:p>
          <a:p>
            <a:r>
              <a:rPr lang="en-US" dirty="0"/>
              <a:t> case when </a:t>
            </a:r>
            <a:r>
              <a:rPr lang="en-US" dirty="0" err="1"/>
              <a:t>credit_amount</a:t>
            </a:r>
            <a:r>
              <a:rPr lang="en-US" dirty="0"/>
              <a:t>&gt;=1000000</a:t>
            </a:r>
          </a:p>
          <a:p>
            <a:r>
              <a:rPr lang="en-US" dirty="0"/>
              <a:t> then </a:t>
            </a:r>
            <a:r>
              <a:rPr lang="en-US" dirty="0" err="1"/>
              <a:t>concat</a:t>
            </a:r>
            <a:r>
              <a:rPr lang="en-US" dirty="0"/>
              <a:t>(round(</a:t>
            </a:r>
            <a:r>
              <a:rPr lang="en-US" dirty="0" err="1"/>
              <a:t>credit_amount</a:t>
            </a:r>
            <a:r>
              <a:rPr lang="en-US" dirty="0"/>
              <a:t>/1000000,2),"M") </a:t>
            </a:r>
          </a:p>
          <a:p>
            <a:r>
              <a:rPr lang="en-US" dirty="0"/>
              <a:t> end as </a:t>
            </a:r>
            <a:r>
              <a:rPr lang="en-US" dirty="0" err="1"/>
              <a:t>credit_amount_in_millions</a:t>
            </a:r>
            <a:endParaRPr lang="en-US" dirty="0"/>
          </a:p>
          <a:p>
            <a:r>
              <a:rPr lang="en-US" dirty="0"/>
              <a:t> from T1;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8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1207EF2-45C1-4042-956B-2CABA71F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Queries in MySQL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C9EB95-768A-D971-5659-6ADA4EBD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 Query 3: Dynamic Performance Matrix</a:t>
            </a:r>
          </a:p>
          <a:p>
            <a:r>
              <a:rPr lang="en-US" dirty="0"/>
              <a:t>#stored procedure to get the top N values as per the user's requirement</a:t>
            </a:r>
          </a:p>
          <a:p>
            <a:r>
              <a:rPr lang="en-US" dirty="0"/>
              <a:t>DELIMITER $$</a:t>
            </a:r>
          </a:p>
          <a:p>
            <a:endParaRPr lang="en-US" dirty="0"/>
          </a:p>
          <a:p>
            <a:r>
              <a:rPr lang="en-US" dirty="0"/>
              <a:t>CREATE DEFINER=`</a:t>
            </a:r>
            <a:r>
              <a:rPr lang="en-US" dirty="0" err="1"/>
              <a:t>root`@`localhost</a:t>
            </a:r>
            <a:r>
              <a:rPr lang="en-US" dirty="0"/>
              <a:t>` PROCEDURE `</a:t>
            </a:r>
            <a:r>
              <a:rPr lang="en-US" dirty="0" err="1"/>
              <a:t>dynamic_performance_metric_by</a:t>
            </a:r>
            <a:r>
              <a:rPr lang="en-US" dirty="0"/>
              <a:t> credit`(IN c1 INT)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-- Stage 1: Grouping credit  by sector and year</a:t>
            </a:r>
          </a:p>
          <a:p>
            <a:r>
              <a:rPr lang="en-US" dirty="0"/>
              <a:t>WITH T1 AS (</a:t>
            </a:r>
          </a:p>
          <a:p>
            <a:r>
              <a:rPr lang="en-US" dirty="0"/>
              <a:t>SELECT </a:t>
            </a:r>
          </a:p>
          <a:p>
            <a:r>
              <a:rPr lang="en-US" dirty="0"/>
              <a:t> </a:t>
            </a:r>
            <a:r>
              <a:rPr lang="en-US" dirty="0" err="1"/>
              <a:t>t.start_year</a:t>
            </a:r>
            <a:r>
              <a:rPr lang="en-US" dirty="0"/>
              <a:t> AS </a:t>
            </a:r>
            <a:r>
              <a:rPr lang="en-US" dirty="0" err="1"/>
              <a:t>yr,ms.item_name</a:t>
            </a:r>
            <a:r>
              <a:rPr lang="en-US" dirty="0"/>
              <a:t> AS sector,</a:t>
            </a:r>
          </a:p>
          <a:p>
            <a:r>
              <a:rPr lang="en-US" dirty="0"/>
              <a:t> SUM(</a:t>
            </a:r>
            <a:r>
              <a:rPr lang="en-US" dirty="0" err="1"/>
              <a:t>f.amount_in_crores</a:t>
            </a:r>
            <a:r>
              <a:rPr lang="en-US" dirty="0"/>
              <a:t>) AS </a:t>
            </a:r>
            <a:r>
              <a:rPr lang="en-US" dirty="0" err="1"/>
              <a:t>total_credit</a:t>
            </a:r>
            <a:endParaRPr lang="en-US" dirty="0"/>
          </a:p>
          <a:p>
            <a:r>
              <a:rPr lang="en-US" dirty="0"/>
              <a:t> FROM </a:t>
            </a:r>
            <a:r>
              <a:rPr lang="en-US" dirty="0" err="1"/>
              <a:t>dim_metric_sector</a:t>
            </a:r>
            <a:r>
              <a:rPr lang="en-US" dirty="0"/>
              <a:t> AS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  INNER JOIN </a:t>
            </a:r>
            <a:r>
              <a:rPr lang="en-US" dirty="0" err="1"/>
              <a:t>fact_financial_analytics</a:t>
            </a:r>
            <a:r>
              <a:rPr lang="en-US" dirty="0"/>
              <a:t> AS f ON </a:t>
            </a:r>
            <a:r>
              <a:rPr lang="en-US" dirty="0" err="1"/>
              <a:t>ms.metric_sector_id</a:t>
            </a:r>
            <a:r>
              <a:rPr lang="en-US" dirty="0"/>
              <a:t> = </a:t>
            </a:r>
            <a:r>
              <a:rPr lang="en-US" dirty="0" err="1"/>
              <a:t>f.metric_sector_id</a:t>
            </a:r>
            <a:endParaRPr lang="en-US" dirty="0"/>
          </a:p>
          <a:p>
            <a:r>
              <a:rPr lang="en-US" dirty="0"/>
              <a:t> INNER JOIN </a:t>
            </a:r>
            <a:r>
              <a:rPr lang="en-US" dirty="0" err="1"/>
              <a:t>dim_time</a:t>
            </a:r>
            <a:r>
              <a:rPr lang="en-US" dirty="0"/>
              <a:t> AS t ON </a:t>
            </a:r>
            <a:r>
              <a:rPr lang="en-US" dirty="0" err="1"/>
              <a:t>f.time_id</a:t>
            </a:r>
            <a:r>
              <a:rPr lang="en-US" dirty="0"/>
              <a:t> = </a:t>
            </a:r>
            <a:r>
              <a:rPr lang="en-US" dirty="0" err="1"/>
              <a:t>t.time_id</a:t>
            </a:r>
            <a:endParaRPr lang="en-US" dirty="0"/>
          </a:p>
          <a:p>
            <a:r>
              <a:rPr lang="en-US" dirty="0"/>
              <a:t> WHERE </a:t>
            </a:r>
            <a:r>
              <a:rPr lang="en-US" dirty="0" err="1"/>
              <a:t>f.amount_in_crores</a:t>
            </a:r>
            <a:r>
              <a:rPr lang="en-US" dirty="0"/>
              <a:t> IS NOT NULL</a:t>
            </a:r>
          </a:p>
          <a:p>
            <a:r>
              <a:rPr lang="en-US" dirty="0"/>
              <a:t>  GROUP BY </a:t>
            </a:r>
            <a:r>
              <a:rPr lang="en-US" dirty="0" err="1"/>
              <a:t>t.start_year</a:t>
            </a:r>
            <a:r>
              <a:rPr lang="en-US" dirty="0"/>
              <a:t>, </a:t>
            </a:r>
            <a:r>
              <a:rPr lang="en-US" dirty="0" err="1"/>
              <a:t>ms.item_name</a:t>
            </a:r>
            <a:endParaRPr lang="en-US" dirty="0"/>
          </a:p>
          <a:p>
            <a:r>
              <a:rPr lang="en-US" dirty="0"/>
              <a:t>    ),</a:t>
            </a:r>
          </a:p>
          <a:p>
            <a:r>
              <a:rPr lang="en-US" dirty="0"/>
              <a:t> -- Stage 2: rank </a:t>
            </a:r>
          </a:p>
          <a:p>
            <a:r>
              <a:rPr lang="en-US" dirty="0"/>
              <a:t> T2 AS (</a:t>
            </a:r>
          </a:p>
          <a:p>
            <a:r>
              <a:rPr lang="en-US" dirty="0"/>
              <a:t> SELECT </a:t>
            </a:r>
          </a:p>
          <a:p>
            <a:r>
              <a:rPr lang="en-US" dirty="0"/>
              <a:t>   yr, </a:t>
            </a:r>
            <a:r>
              <a:rPr lang="en-US" dirty="0" err="1"/>
              <a:t>sector,total_credit</a:t>
            </a:r>
            <a:r>
              <a:rPr lang="en-US" dirty="0"/>
              <a:t>,</a:t>
            </a:r>
          </a:p>
          <a:p>
            <a:r>
              <a:rPr lang="en-US" dirty="0"/>
              <a:t>     DENSE_RANK() OVER (PARTITION BY yr ORDER BY </a:t>
            </a:r>
            <a:r>
              <a:rPr lang="en-US" dirty="0" err="1"/>
              <a:t>total_credit</a:t>
            </a:r>
            <a:r>
              <a:rPr lang="en-US" dirty="0"/>
              <a:t> DESC) AS </a:t>
            </a:r>
            <a:r>
              <a:rPr lang="en-US" dirty="0" err="1"/>
              <a:t>rnk</a:t>
            </a:r>
            <a:endParaRPr lang="en-US" dirty="0"/>
          </a:p>
          <a:p>
            <a:r>
              <a:rPr lang="en-US" dirty="0"/>
              <a:t>    FROM T1</a:t>
            </a:r>
          </a:p>
          <a:p>
            <a:r>
              <a:rPr lang="en-US" dirty="0"/>
              <a:t>    )</a:t>
            </a:r>
          </a:p>
          <a:p>
            <a:r>
              <a:rPr lang="en-US" dirty="0"/>
              <a:t> -- Stage 3:display the specific rank requested by the parameter (c1)</a:t>
            </a:r>
          </a:p>
          <a:p>
            <a:r>
              <a:rPr lang="en-US" dirty="0"/>
              <a:t>SELECT </a:t>
            </a:r>
          </a:p>
          <a:p>
            <a:r>
              <a:rPr lang="en-US" dirty="0" err="1"/>
              <a:t>yr,sector</a:t>
            </a:r>
            <a:r>
              <a:rPr lang="en-US" dirty="0"/>
              <a:t>, </a:t>
            </a:r>
            <a:r>
              <a:rPr lang="en-US" dirty="0" err="1"/>
              <a:t>total_credit</a:t>
            </a:r>
            <a:r>
              <a:rPr lang="en-US" dirty="0"/>
              <a:t>, </a:t>
            </a:r>
            <a:r>
              <a:rPr lang="en-US" dirty="0" err="1"/>
              <a:t>rnk</a:t>
            </a:r>
            <a:endParaRPr lang="en-US" dirty="0"/>
          </a:p>
          <a:p>
            <a:r>
              <a:rPr lang="en-US" dirty="0"/>
              <a:t>FROM T2 </a:t>
            </a:r>
          </a:p>
          <a:p>
            <a:r>
              <a:rPr lang="en-US" dirty="0"/>
              <a:t> WHERE </a:t>
            </a:r>
            <a:r>
              <a:rPr lang="en-US" dirty="0" err="1"/>
              <a:t>rnk</a:t>
            </a:r>
            <a:r>
              <a:rPr lang="en-US" dirty="0"/>
              <a:t> = c1</a:t>
            </a:r>
          </a:p>
          <a:p>
            <a:r>
              <a:rPr lang="en-US" dirty="0"/>
              <a:t> ORDER BY yr ASC, </a:t>
            </a:r>
            <a:r>
              <a:rPr lang="en-US" dirty="0" err="1"/>
              <a:t>total_credit</a:t>
            </a:r>
            <a:r>
              <a:rPr lang="en-US" dirty="0"/>
              <a:t> DESC;</a:t>
            </a:r>
          </a:p>
          <a:p>
            <a:r>
              <a:rPr lang="en-US" dirty="0"/>
              <a:t>END $$</a:t>
            </a:r>
          </a:p>
          <a:p>
            <a:endParaRPr lang="en-US" dirty="0"/>
          </a:p>
          <a:p>
            <a:r>
              <a:rPr lang="en-US" dirty="0"/>
              <a:t>DELIMITER 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761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B0C0-6F17-BE1A-B3FC-94D69DB9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KPI-TOTAL CREDIT &amp; COUNT OF SECTORS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2B97-980F-36C2-363C-48B38B7983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#Query 4:TOTAL CREDIT KPI</a:t>
            </a:r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concat</a:t>
            </a:r>
            <a:r>
              <a:rPr lang="en-US" dirty="0"/>
              <a:t>(round(sum( </a:t>
            </a:r>
            <a:r>
              <a:rPr lang="en-US" dirty="0" err="1"/>
              <a:t>amount_in_crores</a:t>
            </a:r>
            <a:r>
              <a:rPr lang="en-US" dirty="0"/>
              <a:t>)/1000000000,2),"B")as </a:t>
            </a:r>
            <a:r>
              <a:rPr lang="en-US" dirty="0" err="1"/>
              <a:t>total_credit</a:t>
            </a:r>
            <a:r>
              <a:rPr lang="en-US" dirty="0"/>
              <a:t> from </a:t>
            </a:r>
            <a:r>
              <a:rPr lang="en-US" dirty="0" err="1"/>
              <a:t>fact_financial_analytics</a:t>
            </a:r>
            <a:r>
              <a:rPr lang="en-US" dirty="0"/>
              <a:t>;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D92DE-1096-D5FA-9AAB-DE644DC8DF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#Query 5: #total count of sectors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distinct count(</a:t>
            </a:r>
            <a:r>
              <a:rPr lang="en-US" dirty="0" err="1"/>
              <a:t>item_name</a:t>
            </a:r>
            <a:r>
              <a:rPr lang="en-US" dirty="0"/>
              <a:t>)as </a:t>
            </a:r>
            <a:r>
              <a:rPr lang="en-US" dirty="0" err="1"/>
              <a:t>total_sectors</a:t>
            </a:r>
            <a:r>
              <a:rPr lang="en-US" dirty="0"/>
              <a:t> from </a:t>
            </a:r>
            <a:r>
              <a:rPr lang="en-US" dirty="0" err="1"/>
              <a:t>dim_metric_sector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48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02C57"/>
                </a:solidFill>
                <a:latin typeface="Arial"/>
              </a:defRPr>
            </a:pPr>
            <a:r>
              <a:t>Full-Stack Data Engineering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600" b="1">
                <a:solidFill>
                  <a:srgbClr val="35A2EB"/>
                </a:solidFill>
                <a:latin typeface="Arial"/>
              </a:defRPr>
            </a:pPr>
            <a:r>
              <a:t>Data Pipeline Summary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✔ Database Layer (MySQL): Normalized raw unstructured files into a clean relational Star Schema modeling platform consisting of dedicated Fact and Dimension tables.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✔ Backend Optimization (ETL): Structured custom SQL Views and automated Stored Procedures using parameter loops to pre-compute core KPIs and pivot year columns on the server side.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✔ Business Governance (BRD): Established business definitions and strict tracking criteria inside a formal requirement framework prior to database build.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✔ Business Intelligence UI (Tableau): Connected directly to database view extracts to build a continuous, interactive timeline dashboard featuring advanced cohort filter parameters.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961</Words>
  <Application>Microsoft Office PowerPoint</Application>
  <PresentationFormat>On-screen Show (4:3)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KPI Queries in MySQL</vt:lpstr>
      <vt:lpstr>KPI Queries in MySQL</vt:lpstr>
      <vt:lpstr>KPI-TOTAL CREDIT &amp; COUNT OF SECTORS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sony</dc:creator>
  <cp:keywords/>
  <dc:description>generated using python-pptx</dc:description>
  <cp:lastModifiedBy>sony</cp:lastModifiedBy>
  <cp:revision>2</cp:revision>
  <dcterms:created xsi:type="dcterms:W3CDTF">2013-01-27T09:14:16Z</dcterms:created>
  <dcterms:modified xsi:type="dcterms:W3CDTF">2026-09-06T02:43:57Z</dcterms:modified>
  <cp:category/>
</cp:coreProperties>
</file>